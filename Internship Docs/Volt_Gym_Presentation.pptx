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31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79408" y="0"/>
            <a:ext cx="50292" cy="685800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731520"/>
            <a:ext cx="73152" cy="4480560"/>
          </a:xfrm>
          <a:prstGeom prst="rect">
            <a:avLst/>
          </a:prstGeom>
          <a:solidFill>
            <a:srgbClr val="37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74936" y="896112"/>
            <a:ext cx="73152" cy="4251960"/>
          </a:xfrm>
          <a:prstGeom prst="rect">
            <a:avLst/>
          </a:prstGeom>
          <a:solidFill>
            <a:srgbClr val="37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85832" y="1060704"/>
            <a:ext cx="73152" cy="4023360"/>
          </a:xfrm>
          <a:prstGeom prst="rect">
            <a:avLst/>
          </a:prstGeom>
          <a:solidFill>
            <a:srgbClr val="37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6728" y="1225296"/>
            <a:ext cx="73152" cy="3794760"/>
          </a:xfrm>
          <a:prstGeom prst="rect">
            <a:avLst/>
          </a:prstGeom>
          <a:solidFill>
            <a:srgbClr val="37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07624" y="1389888"/>
            <a:ext cx="73152" cy="3566160"/>
          </a:xfrm>
          <a:prstGeom prst="rect">
            <a:avLst/>
          </a:prstGeom>
          <a:solidFill>
            <a:srgbClr val="37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20" y="1554480"/>
            <a:ext cx="73152" cy="3337560"/>
          </a:xfrm>
          <a:prstGeom prst="rect">
            <a:avLst/>
          </a:prstGeom>
          <a:solidFill>
            <a:srgbClr val="37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29416" y="1719072"/>
            <a:ext cx="73152" cy="3108960"/>
          </a:xfrm>
          <a:prstGeom prst="rect">
            <a:avLst/>
          </a:prstGeom>
          <a:solidFill>
            <a:srgbClr val="37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008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INTERNSHIP PROJECT  /  FULL STACK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234440"/>
            <a:ext cx="78638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5700" b="1">
                <a:solidFill>
                  <a:srgbClr val="F6F5F1"/>
                </a:solidFill>
                <a:latin typeface="Aptos Display"/>
              </a:defRPr>
            </a:pPr>
            <a:r>
              <a:t>VOLT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1284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5700" b="1">
                <a:solidFill>
                  <a:srgbClr val="EB2535"/>
                </a:solidFill>
                <a:latin typeface="Aptos Display"/>
              </a:defRPr>
            </a:pPr>
            <a:r>
              <a:t>GYM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8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900" b="1">
                <a:solidFill>
                  <a:srgbClr val="F6F5F1"/>
                </a:solidFill>
                <a:latin typeface="Aptos"/>
              </a:defRPr>
            </a:pPr>
            <a:r>
              <a:t>Website &amp; Enquiry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0">
                <a:solidFill>
                  <a:srgbClr val="AEB5BB"/>
                </a:solidFill>
                <a:latin typeface="Aptos"/>
              </a:defRPr>
            </a:pPr>
            <a:r>
              <a:t>A responsive digital experience for gym discovery, membership information,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300" b="0">
                <a:solidFill>
                  <a:srgbClr val="AEB5BB"/>
                </a:solidFill>
                <a:latin typeface="Aptos"/>
              </a:defRPr>
            </a:pPr>
            <a:r>
              <a:t>member feedback and staff-side enquiry management.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18304"/>
            <a:ext cx="7360920" cy="18288"/>
          </a:xfrm>
          <a:prstGeom prst="rect">
            <a:avLst/>
          </a:prstGeom>
          <a:solidFill>
            <a:srgbClr val="3D4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1">
                <a:solidFill>
                  <a:srgbClr val="AEB5BB"/>
                </a:solidFill>
                <a:latin typeface="Aptos"/>
              </a:defRPr>
            </a:pPr>
            <a:r>
              <a:t>INTERNSHIP COMPANY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400" b="1">
                <a:solidFill>
                  <a:srgbClr val="E3AE43"/>
                </a:solidFill>
                <a:latin typeface="Aptos"/>
              </a:defRPr>
            </a:pPr>
            <a:r>
              <a:t>ASTGEN SOFTWARES LLP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93776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1">
                <a:solidFill>
                  <a:srgbClr val="AEB5BB"/>
                </a:solidFill>
                <a:latin typeface="Aptos"/>
              </a:defRPr>
            </a:pPr>
            <a:r>
              <a:t>DEVELOPED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193792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Aditya Shukla  ·  0614CS231004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Dileep Rathore  ·  0614CS231016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5303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4th Year · Computer Science Department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Pt. Devprabhakar Shastri College of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614476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1">
                <a:solidFill>
                  <a:srgbClr val="AEB5BB"/>
                </a:solidFill>
                <a:latin typeface="Aptos"/>
              </a:defRPr>
            </a:pPr>
            <a:r>
              <a:t>GUIDE  Ajay Prajapati     /     HOD  Santosh Patel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544068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F6F5F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57607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000" b="1">
                <a:solidFill>
                  <a:srgbClr val="EB2535"/>
                </a:solidFill>
                <a:latin typeface="Aptos Display"/>
              </a:defRPr>
            </a:pPr>
            <a:r>
              <a:t>01 —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dark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01 /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A digital front door for a neighbourhood gym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02  /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28800"/>
            <a:ext cx="5669280" cy="4114800"/>
          </a:xfrm>
          <a:prstGeom prst="roundRect">
            <a:avLst>
              <a:gd name="adj" fmla="val 8000"/>
            </a:avLst>
          </a:prstGeom>
          <a:solidFill>
            <a:srgbClr val="0A0C0E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800" b="1">
                <a:solidFill>
                  <a:srgbClr val="F6F5F1"/>
                </a:solidFill>
                <a:latin typeface="Aptos"/>
              </a:defRPr>
            </a:pPr>
            <a:r>
              <a:t>Volt Gym brings the gym’s identity, training options and membership plans together in one responsive website.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0">
                <a:solidFill>
                  <a:srgbClr val="AEB5BB"/>
                </a:solidFill>
                <a:latin typeface="Aptos"/>
              </a:defRPr>
            </a:pPr>
            <a:r>
              <a:t>The same experience also supports structured visitor enquiries and star-rated reviews, with a private admin inbox for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43400"/>
            <a:ext cx="1389888" cy="8229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46227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548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4343400"/>
            <a:ext cx="1389888" cy="8229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46227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7548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Enquire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343400"/>
            <a:ext cx="1389888" cy="8229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446227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7548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PUBLIC WEBSITE  →  PHP API  →  MYSQL  →  ADMIN INBOX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02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Why this project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03  /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470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100" b="1">
                <a:solidFill>
                  <a:srgbClr val="F6F5F1"/>
                </a:solidFill>
                <a:latin typeface="Aptos"/>
              </a:defRPr>
            </a:pPr>
            <a:r>
              <a:t>A gym website should answer the questions people have before they visit.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97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697480"/>
            <a:ext cx="41148" cy="205740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6207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INFORMATION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55264"/>
            <a:ext cx="306324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Visitors need clear details about services, coaches, hours, location and membership choices.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97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697480"/>
            <a:ext cx="41148" cy="205740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86207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CONTACT FRICTION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55264"/>
            <a:ext cx="306324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A structured enquiry form provides a direct way to request a visit or share training goals.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697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2697480"/>
            <a:ext cx="41148" cy="205740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286207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FEEDBACK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3255264"/>
            <a:ext cx="306324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A staff inbox brings incoming reviews and visit enquiries into one manageable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2578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PROJECT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202936"/>
            <a:ext cx="8778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500" b="1">
                <a:solidFill>
                  <a:srgbClr val="F6F5F1"/>
                </a:solidFill>
                <a:latin typeface="Aptos"/>
              </a:defRPr>
            </a:pPr>
            <a:r>
              <a:t>A polished public-facing website connected to a lightweight submission-management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03 / PROJECT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Objectives and 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04  / 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836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4736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PRESENT THE GYM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03120"/>
            <a:ext cx="47091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Explain the brand, mission, programs, trainers and membership options.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980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743200"/>
            <a:ext cx="4736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SUPPORT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17520"/>
            <a:ext cx="47091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Let visitors request a visit and submit star-rated feedback.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12463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657600"/>
            <a:ext cx="4736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ENABLE ADMIN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931920"/>
            <a:ext cx="47091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Protect staff access to incoming submissions and read-status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8288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828800"/>
            <a:ext cx="41148" cy="150876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9339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86584"/>
            <a:ext cx="214884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Responsive public website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Interactive UI sections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8288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828800"/>
            <a:ext cx="41148" cy="150876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99339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386584"/>
            <a:ext cx="214884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PHP endpoints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MySQL persistence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61188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3611880"/>
            <a:ext cx="41148" cy="150876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77647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69664"/>
            <a:ext cx="214884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Admin login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Inbox and read 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61188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3611880"/>
            <a:ext cx="41148" cy="150876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377647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NOT 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169664"/>
            <a:ext cx="214884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Online payments, member accounts or live booking are not part of the current scope.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4864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The current website presents membership information; it does not process membership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ssion_dark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04 / VISUAL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A bold identity, built around contrast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05  /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4800600" cy="4069080"/>
          </a:xfrm>
          <a:prstGeom prst="roundRect">
            <a:avLst>
              <a:gd name="adj" fmla="val 8000"/>
            </a:avLst>
          </a:prstGeom>
          <a:solidFill>
            <a:srgbClr val="0A0C0E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977639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3500" b="1">
                <a:solidFill>
                  <a:srgbClr val="F6F5F1"/>
                </a:solidFill>
                <a:latin typeface="Aptos Display"/>
              </a:defRPr>
            </a:pPr>
            <a:r>
              <a:t>TRAIN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3500" b="1">
                <a:solidFill>
                  <a:srgbClr val="F6F5F1"/>
                </a:solidFill>
                <a:latin typeface="Aptos Display"/>
              </a:defRPr>
            </a:pPr>
            <a:r>
              <a:t>BEYOND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3500" b="1">
                <a:solidFill>
                  <a:srgbClr val="F6F5F1"/>
                </a:solidFill>
                <a:latin typeface="Aptos Display"/>
              </a:defRPr>
            </a:pPr>
            <a:r>
              <a:t>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3891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Brand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CORE 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40280"/>
            <a:ext cx="2148840" cy="475488"/>
          </a:xfrm>
          <a:prstGeom prst="roundRect">
            <a:avLst>
              <a:gd name="adj" fmla="val 8000"/>
            </a:avLst>
          </a:prstGeom>
          <a:solidFill>
            <a:srgbClr val="0D0F11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78892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F6F5F1"/>
                </a:solidFill>
                <a:latin typeface="Aptos"/>
              </a:defRPr>
            </a:pPr>
            <a:r>
              <a:t>Charcoal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240280"/>
            <a:ext cx="2148840" cy="475488"/>
          </a:xfrm>
          <a:prstGeom prst="roundRect">
            <a:avLst>
              <a:gd name="adj" fmla="val 8000"/>
            </a:avLst>
          </a:prstGeom>
          <a:solidFill>
            <a:srgbClr val="EB2535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78892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F6F5F1"/>
                </a:solidFill>
                <a:latin typeface="Aptos"/>
              </a:defRPr>
            </a:pPr>
            <a:r>
              <a:t>Volt 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246120"/>
            <a:ext cx="2148840" cy="475488"/>
          </a:xfrm>
          <a:prstGeom prst="roundRect">
            <a:avLst>
              <a:gd name="adj" fmla="val 8000"/>
            </a:avLst>
          </a:prstGeom>
          <a:solidFill>
            <a:srgbClr val="F6F2E9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79476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F6F5F1"/>
                </a:solidFill>
                <a:latin typeface="Aptos"/>
              </a:defRPr>
            </a:pPr>
            <a:r>
              <a:t>Warm cream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3246120"/>
            <a:ext cx="2148840" cy="475488"/>
          </a:xfrm>
          <a:prstGeom prst="roundRect">
            <a:avLst>
              <a:gd name="adj" fmla="val 8000"/>
            </a:avLst>
          </a:prstGeom>
          <a:solidFill>
            <a:srgbClr val="AEB5BB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F6F5F1"/>
                </a:solidFill>
                <a:latin typeface="Aptos"/>
              </a:defRPr>
            </a:pPr>
            <a:r>
              <a:t>Muted grey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5262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0">
                <a:solidFill>
                  <a:srgbClr val="AEB5BB"/>
                </a:solidFill>
                <a:latin typeface="Aptos"/>
              </a:defRPr>
            </a:pPr>
            <a:r>
              <a:t>Typography pairs condensed display headings with a clean sans-serif body font. Large photography, simple grids and red action accents maintain a consistent visual rhythm.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05 / PUBLIC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Homepage and hero slider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06  /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47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FIRST IMPRESSION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76272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800" b="1">
                <a:solidFill>
                  <a:srgbClr val="F6F5F1"/>
                </a:solidFill>
                <a:latin typeface="Aptos"/>
              </a:defRPr>
            </a:pPr>
            <a:r>
              <a:t>A strong visual identity, clear navigation and obvious next steps.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0266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71800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SECTION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246120"/>
            <a:ext cx="457200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Jump to About, Vision, Programs, Gallery, Trainers, Reviews, Membership and Contact.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712463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657600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HERO CAROUSEL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931920"/>
            <a:ext cx="457200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Previous/next controls and pagination dots switch the featured slide.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43982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343400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PRIMARY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617720"/>
            <a:ext cx="457200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Calls to action guide visitors toward membership and programs.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0840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029200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THEME PREFERENCE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303520"/>
            <a:ext cx="457200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Light/dark mode preference is saved across visits.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51576" y="2185416"/>
            <a:ext cx="5824728" cy="3054096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ero_crop.jpg"/>
          <p:cNvPicPr>
            <a:picLocks noChangeAspect="1"/>
          </p:cNvPicPr>
          <p:nvPr/>
        </p:nvPicPr>
        <p:blipFill>
          <a:blip r:embed="rId2"/>
          <a:srcRect l="2887" r="2887"/>
          <a:stretch>
            <a:fillRect/>
          </a:stretch>
        </p:blipFill>
        <p:spPr>
          <a:xfrm>
            <a:off x="5806440" y="2240280"/>
            <a:ext cx="5715000" cy="2944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06440" y="530352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Homepage screenshot cropped to the website viewport; browser chrome removed.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06 / BRAND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About, vision and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07  / 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2938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74519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ABOUT VOLT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48839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Introduces the training environment and the gym’s approach to consistency.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73405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9191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53511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Make strength, movement and self-respect part of everyday life.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53872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3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58183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Pair coaching with a welcoming space where progress is measured and shared.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343399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88536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CONTENT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62855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Short copy and paired cards make the brand purpose easy to scan.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1576" y="2185416"/>
            <a:ext cx="5824728" cy="3054096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ission_crop.jpg"/>
          <p:cNvPicPr>
            <a:picLocks noChangeAspect="1"/>
          </p:cNvPicPr>
          <p:nvPr/>
        </p:nvPicPr>
        <p:blipFill>
          <a:blip r:embed="rId2"/>
          <a:srcRect l="2510" r="2510"/>
          <a:stretch>
            <a:fillRect/>
          </a:stretch>
        </p:blipFill>
        <p:spPr>
          <a:xfrm>
            <a:off x="5806440" y="2240280"/>
            <a:ext cx="5715000" cy="2944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06440" y="530352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Brand story and vision/mission section.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07 /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Training programs and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08  /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700" b="1">
                <a:solidFill>
                  <a:srgbClr val="F6F5F1"/>
                </a:solidFill>
                <a:latin typeface="Aptos"/>
              </a:defRPr>
            </a:pPr>
            <a:r>
              <a:t>Three pathways help visitors find the kind of training that fits their goals.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670048"/>
            <a:ext cx="41148" cy="86868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01  STRENGTH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27832"/>
            <a:ext cx="443484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Lifting fundamentals and confidence through small-group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730752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3730752"/>
            <a:ext cx="41148" cy="86868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95344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02  CONDITIONING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88536"/>
            <a:ext cx="443484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Intervals, carries and circuits designed to build everyday energy.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791456"/>
            <a:ext cx="4800600" cy="8686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4791456"/>
            <a:ext cx="41148" cy="86868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956048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03  PERSONAL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443484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One-to-one coaching, a custom plan and regular progress reviews.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51576" y="2185416"/>
            <a:ext cx="5824728" cy="3054096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ograms_crop.jpg"/>
          <p:cNvPicPr>
            <a:picLocks noChangeAspect="1"/>
          </p:cNvPicPr>
          <p:nvPr/>
        </p:nvPicPr>
        <p:blipFill>
          <a:blip r:embed="rId2"/>
          <a:srcRect l="2887" r="2887"/>
          <a:stretch>
            <a:fillRect/>
          </a:stretch>
        </p:blipFill>
        <p:spPr>
          <a:xfrm>
            <a:off x="5806440" y="2240280"/>
            <a:ext cx="571500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06440" y="530352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Programs page — actual website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08 / VISUAL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Inside Volt: the training gallery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09  / 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2938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74519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VISUAL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48839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A gallery of equipment, strength areas and conditioning spaces.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73405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9191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SELECTABLE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53511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Visitors can open selected photos in a larger lightbox 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53872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3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VISUAL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58183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One large feature image is balanced by smaller supporting tiles.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343399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88536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62855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Photography helps visitors picture the environment before they arrive.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1576" y="2185416"/>
            <a:ext cx="5824728" cy="3054096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allery_crop.jpg"/>
          <p:cNvPicPr>
            <a:picLocks noChangeAspect="1"/>
          </p:cNvPicPr>
          <p:nvPr/>
        </p:nvPicPr>
        <p:blipFill>
          <a:blip r:embed="rId2"/>
          <a:srcRect l="2887" r="2887"/>
          <a:stretch>
            <a:fillRect/>
          </a:stretch>
        </p:blipFill>
        <p:spPr>
          <a:xfrm>
            <a:off x="5806440" y="2240280"/>
            <a:ext cx="5715000" cy="2944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06440" y="530352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Gallery section with the original browser frame cropped away.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09 /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Coach and trainer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10  / 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2938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74519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SPECIALISATIONS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48839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Profiles highlight the coaching discipline and trainer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73405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9191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EXPERIENCE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53511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Years of experience and short quotes add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53872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3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TRUST &amp; 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58183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The section helps prospective members understand the coaching offer.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343399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88536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50" b="1">
                <a:solidFill>
                  <a:srgbClr val="F6F5F1"/>
                </a:solidFill>
                <a:latin typeface="Aptos"/>
              </a:defRPr>
            </a:pPr>
            <a:r>
              <a:t>SCOPE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62855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AEB5BB"/>
                </a:solidFill>
                <a:latin typeface="Aptos"/>
              </a:defRPr>
            </a:pPr>
            <a:r>
              <a:t>Profiles are presentation content; there is no staff-management module.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1576" y="2185416"/>
            <a:ext cx="5824728" cy="3054096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aches_crop.jpg"/>
          <p:cNvPicPr>
            <a:picLocks noChangeAspect="1"/>
          </p:cNvPicPr>
          <p:nvPr/>
        </p:nvPicPr>
        <p:blipFill>
          <a:blip r:embed="rId2"/>
          <a:srcRect l="3021" r="3021"/>
          <a:stretch>
            <a:fillRect/>
          </a:stretch>
        </p:blipFill>
        <p:spPr>
          <a:xfrm>
            <a:off x="5806440" y="2240280"/>
            <a:ext cx="5715000" cy="2944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06440" y="530352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Trainer cards as displayed on the public 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10 /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Member reviews and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11  / 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2938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74519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10" b="1">
                <a:solidFill>
                  <a:srgbClr val="F6F5F1"/>
                </a:solidFill>
                <a:latin typeface="Aptos"/>
              </a:defRPr>
            </a:pPr>
            <a:r>
              <a:t>TESTIMONIAL CAROUSEL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48839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0" b="0">
                <a:solidFill>
                  <a:srgbClr val="AEB5BB"/>
                </a:solidFill>
                <a:latin typeface="Aptos"/>
              </a:defRPr>
            </a:pPr>
            <a:r>
              <a:t>Previous/next controls and pagination navigate member quotes.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73405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9191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10" b="1">
                <a:solidFill>
                  <a:srgbClr val="F6F5F1"/>
                </a:solidFill>
                <a:latin typeface="Aptos"/>
              </a:defRPr>
            </a:pPr>
            <a:r>
              <a:t>REVIEW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53511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0" b="0">
                <a:solidFill>
                  <a:srgbClr val="AEB5BB"/>
                </a:solidFill>
                <a:latin typeface="Aptos"/>
              </a:defRPr>
            </a:pPr>
            <a:r>
              <a:t>Collects a name, a 1–5 star rating and written feedback.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53872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3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10" b="1">
                <a:solidFill>
                  <a:srgbClr val="F6F5F1"/>
                </a:solidFill>
                <a:latin typeface="Aptos"/>
              </a:defRPr>
            </a:pPr>
            <a:r>
              <a:t>OPTIONAL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58183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0" b="0">
                <a:solidFill>
                  <a:srgbClr val="AEB5BB"/>
                </a:solidFill>
                <a:latin typeface="Aptos"/>
              </a:defRPr>
            </a:pPr>
            <a:r>
              <a:t>Email and phone fields are optional individually; backend requires a contact method.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343399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88536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10" b="1">
                <a:solidFill>
                  <a:srgbClr val="F6F5F1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62855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0" b="0">
                <a:solidFill>
                  <a:srgbClr val="AEB5BB"/>
                </a:solidFill>
                <a:latin typeface="Aptos"/>
              </a:defRPr>
            </a:pPr>
            <a:r>
              <a:t>Accepted reviews are stored for staff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1576" y="2185416"/>
            <a:ext cx="5824728" cy="3054096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views_crop.jpg"/>
          <p:cNvPicPr>
            <a:picLocks noChangeAspect="1"/>
          </p:cNvPicPr>
          <p:nvPr/>
        </p:nvPicPr>
        <p:blipFill>
          <a:blip r:embed="rId2"/>
          <a:srcRect l="2887" r="2887"/>
          <a:stretch>
            <a:fillRect/>
          </a:stretch>
        </p:blipFill>
        <p:spPr>
          <a:xfrm>
            <a:off x="5806440" y="2240280"/>
            <a:ext cx="5715000" cy="2944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06440" y="530352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Member review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11 / PLANS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Membership plans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12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1488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7860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600" b="1">
                <a:solidFill>
                  <a:srgbClr val="F6F5F1"/>
                </a:solidFill>
                <a:latin typeface="Aptos Display"/>
              </a:defRPr>
            </a:pPr>
            <a:r>
              <a:t>₹1,000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30632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5844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575304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Full gym access, 06:00–22:00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402336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4014216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Changing rooms and recovery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46227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4453128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Monthly movement check-in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1874519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242527"/>
          </a:solidFill>
          <a:ln w="10160">
            <a:solidFill>
              <a:srgbClr val="EB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44568" y="1874519"/>
            <a:ext cx="3429000" cy="548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21488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3AE43"/>
                </a:solidFill>
                <a:latin typeface="Aptos"/>
              </a:defRPr>
            </a:pPr>
            <a:r>
              <a:t>PEAK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257860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600" b="1">
                <a:solidFill>
                  <a:srgbClr val="F6F5F1"/>
                </a:solidFill>
                <a:latin typeface="Aptos Display"/>
              </a:defRPr>
            </a:pPr>
            <a:r>
              <a:t>₹1,500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0632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35844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3575304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24/7 full gym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4014216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4 coached classes each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46227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4453128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Quarterly goal-setting session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8" y="1874519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21488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PERSONAL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2578608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600" b="1">
                <a:solidFill>
                  <a:srgbClr val="F6F5F1"/>
                </a:solidFill>
                <a:latin typeface="Aptos Display"/>
              </a:defRPr>
            </a:pPr>
            <a:r>
              <a:t>₹3,000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30632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/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35844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4816" y="3575304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Everything in Peak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402336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4014216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4 personal training sessions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46227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EB2535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816" y="4453128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F6F5F1"/>
                </a:solidFill>
                <a:latin typeface="Aptos"/>
              </a:defRPr>
            </a:pPr>
            <a:r>
              <a:t>Custom training program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5870448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0">
                <a:solidFill>
                  <a:srgbClr val="AEB5BB"/>
                </a:solidFill>
                <a:latin typeface="Aptos"/>
              </a:defRPr>
            </a:pPr>
            <a:r>
              <a:t>Prices and benefits reflect the current website interface; payment processing is not implemented.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12 / LEAD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Contact and visit enquiry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13  / 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2938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74519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20" b="1">
                <a:solidFill>
                  <a:srgbClr val="F6F5F1"/>
                </a:solidFill>
                <a:latin typeface="Aptos"/>
              </a:defRPr>
            </a:pPr>
            <a:r>
              <a:t>CONTACT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48839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9" b="0">
                <a:solidFill>
                  <a:srgbClr val="AEB5BB"/>
                </a:solidFill>
                <a:latin typeface="Aptos"/>
              </a:defRPr>
            </a:pPr>
            <a:r>
              <a:t>Address, opening hours, phone and email are shown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73405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79191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20" b="1">
                <a:solidFill>
                  <a:srgbClr val="F6F5F1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53511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9" b="0">
                <a:solidFill>
                  <a:srgbClr val="AEB5BB"/>
                </a:solidFill>
                <a:latin typeface="Aptos"/>
              </a:defRPr>
            </a:pPr>
            <a:r>
              <a:t>An embedded map helps visitors find the gym.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53872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3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20" b="1">
                <a:solidFill>
                  <a:srgbClr val="F6F5F1"/>
                </a:solidFill>
                <a:latin typeface="Aptos"/>
              </a:defRPr>
            </a:pPr>
            <a:r>
              <a:t>ENQUIRY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58183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9" b="0">
                <a:solidFill>
                  <a:srgbClr val="AEB5BB"/>
                </a:solidFill>
                <a:latin typeface="Aptos"/>
              </a:defRPr>
            </a:pPr>
            <a:r>
              <a:t>Name, email or phone, training goal and an optional message.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343399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88536"/>
            <a:ext cx="4599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20" b="1">
                <a:solidFill>
                  <a:srgbClr val="F6F5F1"/>
                </a:solidFill>
                <a:latin typeface="Aptos"/>
              </a:defRPr>
            </a:pPr>
            <a:r>
              <a:t>SUBMISSION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562855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19" b="0">
                <a:solidFill>
                  <a:srgbClr val="AEB5BB"/>
                </a:solidFill>
                <a:latin typeface="Aptos"/>
              </a:defRPr>
            </a:pPr>
            <a:r>
              <a:t>The form sends a request to the PHP API for validation and storage.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1576" y="2185416"/>
            <a:ext cx="5824728" cy="3054096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ntact_crop.jpg"/>
          <p:cNvPicPr>
            <a:picLocks noChangeAspect="1"/>
          </p:cNvPicPr>
          <p:nvPr/>
        </p:nvPicPr>
        <p:blipFill>
          <a:blip r:embed="rId2"/>
          <a:srcRect l="2887" r="2887"/>
          <a:stretch>
            <a:fillRect/>
          </a:stretch>
        </p:blipFill>
        <p:spPr>
          <a:xfrm>
            <a:off x="5806440" y="2240280"/>
            <a:ext cx="5715000" cy="2944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06440" y="530352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Contact section and visit request 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13 /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Responsive UI and interaction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14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41148" cy="132588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32303"/>
            <a:ext cx="224028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Section links and responsive mobile navigation.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874519"/>
            <a:ext cx="41148" cy="132588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391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32303"/>
            <a:ext cx="224028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Light/dark toggle with saved preference.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874519"/>
            <a:ext cx="41148" cy="132588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0391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CAROUSELS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432303"/>
            <a:ext cx="224028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Hero and review controls with pagination.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874519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1704" y="1874519"/>
            <a:ext cx="41148" cy="132588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03911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300" b="1">
                <a:solidFill>
                  <a:srgbClr val="F6F5F1"/>
                </a:solidFill>
                <a:latin typeface="Aptos"/>
              </a:defRPr>
            </a:pPr>
            <a:r>
              <a:t>GALLERY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432303"/>
            <a:ext cx="196596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Selectable images and lightbox behaviour.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886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600" b="1">
                <a:solidFill>
                  <a:srgbClr val="F6F5F1"/>
                </a:solidFill>
                <a:latin typeface="Aptos"/>
              </a:defRPr>
            </a:pPr>
            <a:r>
              <a:t>Usability details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" y="4443983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389120"/>
            <a:ext cx="9674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ACCESSIBILITY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663440"/>
            <a:ext cx="9646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Controls include descriptive labels where appropriate.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065775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010912"/>
            <a:ext cx="9674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MOTION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285231"/>
            <a:ext cx="9646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Reduced-motion preferences are considered in the stylesheet.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687568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632704"/>
            <a:ext cx="96743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907024"/>
            <a:ext cx="9646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Buttons, cards, spacing and colours follow a shared design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14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15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41148" cy="1261872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32303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Semantic structure and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2736" y="1874519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2736" y="1874519"/>
            <a:ext cx="41148" cy="1261872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0391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2432303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Responsive layout, themes and visual effects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55664" y="1874519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5664" y="1874519"/>
            <a:ext cx="41148" cy="1261872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0391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VANILLA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432303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Carousel, lightbox, theme and form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8592" y="1874519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08592" y="1874519"/>
            <a:ext cx="41148" cy="1261872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2039112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BOOTSTRAP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2432303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CSS utilities and Bootstrap Icons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447287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447287"/>
            <a:ext cx="41148" cy="1261872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611879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PHP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005072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API request handling and admin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6" y="3447287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2736" y="3447287"/>
            <a:ext cx="41148" cy="1261872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3611879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MYSQL + PDO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5615" y="4005072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Persistent storage and prepared queries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55664" y="3447287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55664" y="3447287"/>
            <a:ext cx="41148" cy="1261872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3611879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XAMPP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4005072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Local Apache, PHP and MySQL environment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08592" y="3447287"/>
            <a:ext cx="254203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08592" y="3447287"/>
            <a:ext cx="41148" cy="1261872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3611879"/>
            <a:ext cx="21762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50" b="1">
                <a:solidFill>
                  <a:srgbClr val="F6F5F1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4005072"/>
            <a:ext cx="217627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Static-site deployment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5303520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0">
                <a:solidFill>
                  <a:srgbClr val="AEB5BB"/>
                </a:solidFill>
                <a:latin typeface="Aptos"/>
              </a:defRPr>
            </a:pPr>
            <a:r>
              <a:t>No frontend compilation step is required for the public website.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15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How the system components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16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6060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07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VISITOR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7355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HTML · CSS ·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871216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2000" b="1">
                <a:solidFill>
                  <a:srgbClr val="EB25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242316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6060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07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PHP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7355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api.php ·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871216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2000" b="1">
                <a:solidFill>
                  <a:srgbClr val="EB25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3096" y="242316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6060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907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MYSQL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27355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volt_gym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2871216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2000" b="1">
                <a:solidFill>
                  <a:srgbClr val="EB25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1744" y="2423160"/>
            <a:ext cx="242316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26060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907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ADMIN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327355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admin.php · 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069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E3AE43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0690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E3AE43"/>
                </a:solidFill>
                <a:latin typeface="Aptos"/>
              </a:defRPr>
            </a:pPr>
            <a:r>
              <a:t>READ / UPDATE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5720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1560" y="4572000"/>
            <a:ext cx="41148" cy="91440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39" y="473659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PUBLIC FORM 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39" y="512978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Browser sends JSON to PHP; valid records are stored in MySQL.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5720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4572000"/>
            <a:ext cx="41148" cy="91440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73659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STAFF INBOX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12978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Admin reads saved records and marks submissions as read.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16 / FRONTEND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Source code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17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5257800" cy="3977639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57400"/>
            <a:ext cx="47548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Volt_Gym/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├── index.html          Main public website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├── assets/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│   ├── css/             Stylesheets and Bootstrap CSS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│   ├── js/              Frontend interactions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│   ├── image/           Logos, portraits and photography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│   └── font/            Local font assets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└── php/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    ├── api.php          Form submission API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    ├── admin.php        Admin dashboard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    ├── config.php       Database configuration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Consolas"/>
              </a:defRPr>
            </a:pPr>
            <a:r>
              <a:t>    └── schema.sql       Database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754880" cy="10515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41148" cy="105156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9339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PUBLIC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86584"/>
            <a:ext cx="438912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HTML, CSS and JavaScript run directly in the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54680"/>
            <a:ext cx="4754880" cy="10515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154680"/>
            <a:ext cx="41148" cy="105156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31927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SERVER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12464"/>
            <a:ext cx="438912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PHP endpoints process requests and connect to MySQL.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80560"/>
            <a:ext cx="4754880" cy="105156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480560"/>
            <a:ext cx="41148" cy="105156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64515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DEPLOYMENT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38344"/>
            <a:ext cx="4389120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GitHub Pages can host static files, but it cannot execute PHP.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17 / PHP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Backend and form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18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245059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POST JSON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800" b="1">
                <a:solidFill>
                  <a:srgbClr val="EB25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2011680"/>
            <a:ext cx="245059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1945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8163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Required fields and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800" b="1">
                <a:solidFill>
                  <a:srgbClr val="EB25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1383" y="2011680"/>
            <a:ext cx="245059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21945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28163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Prepared SQL insert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  <a:defRPr sz="1800" b="1">
                <a:solidFill>
                  <a:srgbClr val="EB253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3456" y="2011680"/>
            <a:ext cx="2450592" cy="1261872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21945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1">
                <a:solidFill>
                  <a:srgbClr val="F6F5F1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28163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HTTP status + 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977639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977639"/>
            <a:ext cx="41148" cy="132588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42231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api.php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35424"/>
            <a:ext cx="301752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Handles review and enquiry POST requests; returns validation errors or success responses.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3977639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7408" y="3977639"/>
            <a:ext cx="41148" cy="132588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142231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config.php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535424"/>
            <a:ext cx="301752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Builds the PDO database connection from environment variables or local defaults.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977639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3977639"/>
            <a:ext cx="41148" cy="132588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142231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DATABASE WRITE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535424"/>
            <a:ext cx="301752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Accepted submissions are inserted with prepared SQL statements.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18 / MYSQL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19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41148" cy="146304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inquiries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9659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id · name · email · phone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goal · message · created_at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828800"/>
            <a:ext cx="41148" cy="146304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99339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86584"/>
            <a:ext cx="19659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id · name · email · phone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rating · message · created_at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182880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65392" y="1828800"/>
            <a:ext cx="41148" cy="146304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99339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admins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386584"/>
            <a:ext cx="19659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id · username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password_hash · created_at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41148" cy="146304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99339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admin_read_status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386584"/>
            <a:ext cx="19659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submission_type · submission_id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950" b="0">
                <a:solidFill>
                  <a:srgbClr val="AEB5BB"/>
                </a:solidFill>
                <a:latin typeface="Aptos"/>
              </a:defRPr>
            </a:pPr>
            <a:r>
              <a:t>read_at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1605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SCHEMA NOTES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" y="458114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526280"/>
            <a:ext cx="10131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800600"/>
            <a:ext cx="10104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volt_gym · utf8mb4 character 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5056632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001768"/>
            <a:ext cx="10131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276088"/>
            <a:ext cx="10104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Review ratings are constrained to 1–5 stars.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532120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77256"/>
            <a:ext cx="10131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ADMIN ACCOUNTS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5751576"/>
            <a:ext cx="10104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Unique usernames; passwords stored as hashes.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600760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5952744"/>
            <a:ext cx="10131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READ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6227064"/>
            <a:ext cx="10104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Submission type and ID identify read-status records.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19 /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Admin authentication and safeguards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20  / 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8836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28800"/>
            <a:ext cx="4782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80" b="1">
                <a:solidFill>
                  <a:srgbClr val="F6F5F1"/>
                </a:solidFill>
                <a:latin typeface="Aptos"/>
              </a:defRPr>
            </a:pPr>
            <a:r>
              <a:t>ACCOUNT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03120"/>
            <a:ext cx="4754880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80" b="0">
                <a:solidFill>
                  <a:srgbClr val="AEB5BB"/>
                </a:solidFill>
                <a:latin typeface="Aptos"/>
              </a:defRPr>
            </a:pPr>
            <a:r>
              <a:t>create_admin.php is CLI-only and hashes the chosen password.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64261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587752"/>
            <a:ext cx="4782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80" b="1">
                <a:solidFill>
                  <a:srgbClr val="F6F5F1"/>
                </a:solidFill>
                <a:latin typeface="Aptos"/>
              </a:defRPr>
            </a:pPr>
            <a:r>
              <a:t>SIGN-IN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62072"/>
            <a:ext cx="4754880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80" b="0">
                <a:solidFill>
                  <a:srgbClr val="AEB5BB"/>
                </a:solidFill>
                <a:latin typeface="Aptos"/>
              </a:defRPr>
            </a:pPr>
            <a:r>
              <a:t>Admin login verifies credentials against the stored password hash.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401568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346704"/>
            <a:ext cx="4782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80" b="1">
                <a:solidFill>
                  <a:srgbClr val="F6F5F1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621024"/>
            <a:ext cx="4754880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80" b="0">
                <a:solidFill>
                  <a:srgbClr val="AEB5BB"/>
                </a:solidFill>
                <a:latin typeface="Aptos"/>
              </a:defRPr>
            </a:pPr>
            <a:r>
              <a:t>Session-based authentication protects dashboard 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160520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105656"/>
            <a:ext cx="4782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80" b="1">
                <a:solidFill>
                  <a:srgbClr val="F6F5F1"/>
                </a:solidFill>
                <a:latin typeface="Aptos"/>
              </a:defRPr>
            </a:pPr>
            <a:r>
              <a:t>CSRF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79976"/>
            <a:ext cx="4754880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80" b="0">
                <a:solidFill>
                  <a:srgbClr val="AEB5BB"/>
                </a:solidFill>
                <a:latin typeface="Aptos"/>
              </a:defRPr>
            </a:pPr>
            <a:r>
              <a:t>Admin POST actions include a server-validated session token.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919472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864608"/>
            <a:ext cx="4782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80" b="1">
                <a:solidFill>
                  <a:srgbClr val="F6F5F1"/>
                </a:solidFill>
                <a:latin typeface="Aptos"/>
              </a:defRPr>
            </a:pPr>
            <a:r>
              <a:t>SAFER DEFAULTS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38928"/>
            <a:ext cx="4754880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80" b="0">
                <a:solidFill>
                  <a:srgbClr val="AEB5BB"/>
                </a:solidFill>
                <a:latin typeface="Aptos"/>
              </a:defRPr>
            </a:pPr>
            <a:r>
              <a:t>Session-cookie settings and response headers add protection.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25896" y="2185416"/>
            <a:ext cx="5550408" cy="2898648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in_crop.jpg"/>
          <p:cNvPicPr>
            <a:picLocks noChangeAspect="1"/>
          </p:cNvPicPr>
          <p:nvPr/>
        </p:nvPicPr>
        <p:blipFill>
          <a:blip r:embed="rId2"/>
          <a:srcRect l="2648" r="2648"/>
          <a:stretch>
            <a:fillRect/>
          </a:stretch>
        </p:blipFill>
        <p:spPr>
          <a:xfrm>
            <a:off x="6080760" y="2240280"/>
            <a:ext cx="5440680" cy="2788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80760" y="5148072"/>
            <a:ext cx="5440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Staff-only sign-in page.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dmin_dark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20 / SUBMISSION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Admin dashboard and submission inbox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21  / 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120640" cy="4251960"/>
          </a:xfrm>
          <a:prstGeom prst="roundRect">
            <a:avLst>
              <a:gd name="adj" fmla="val 8000"/>
            </a:avLst>
          </a:prstGeom>
          <a:solidFill>
            <a:srgbClr val="0A0C0E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ONE STAFF-ONLY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4343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3200" b="1">
                <a:solidFill>
                  <a:srgbClr val="F6F5F1"/>
                </a:solidFill>
                <a:latin typeface="Aptos Display"/>
              </a:defRPr>
            </a:pPr>
            <a:r>
              <a:t>Feedback &amp;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defRPr sz="3200" b="1">
                <a:solidFill>
                  <a:srgbClr val="F6F5F1"/>
                </a:solidFill>
                <a:latin typeface="Aptos Display"/>
              </a:defRPr>
            </a:pPr>
            <a:r>
              <a:t>enquiries.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89534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840480"/>
            <a:ext cx="4233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11480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Total review and enquiry 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51713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462272"/>
            <a:ext cx="4233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NEW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73659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Incoming submissions grouped for attention.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5138928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5084064"/>
            <a:ext cx="4233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READ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358384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Mark items as read and keep track of reviewed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5896" y="2185416"/>
            <a:ext cx="5550408" cy="2898648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nbox_crop.jpg"/>
          <p:cNvPicPr>
            <a:picLocks noChangeAspect="1"/>
          </p:cNvPicPr>
          <p:nvPr/>
        </p:nvPicPr>
        <p:blipFill>
          <a:blip r:embed="rId3"/>
          <a:srcRect l="2648" r="2648"/>
          <a:stretch>
            <a:fillRect/>
          </a:stretch>
        </p:blipFill>
        <p:spPr>
          <a:xfrm>
            <a:off x="6080760" y="2240280"/>
            <a:ext cx="5440680" cy="2788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60" y="5148072"/>
            <a:ext cx="5440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0">
                <a:solidFill>
                  <a:srgbClr val="AEB5BB"/>
                </a:solidFill>
                <a:latin typeface="Aptos"/>
              </a:defRPr>
            </a:pPr>
            <a:r>
              <a:t>Admin inbox displaying submitted reviews and enquiries.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21 / QUALITY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Validation, security and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22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41148" cy="141732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INPUT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32303"/>
            <a:ext cx="306324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Name, contact method, email/phone formats, rating range and message length.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41148" cy="141732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DATABASE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32303"/>
            <a:ext cx="306324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PDO prepared statements and exception-based database error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874519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874519"/>
            <a:ext cx="41148" cy="141732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203911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ADMIN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2432303"/>
            <a:ext cx="306324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Password hashing, session checks, CSRF validation and output escaping.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840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PRE-SUBMISSION TEST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4279392"/>
            <a:ext cx="164592" cy="164592"/>
          </a:xfrm>
          <a:prstGeom prst="rect">
            <a:avLst/>
          </a:prstGeom>
          <a:solidFill>
            <a:srgbClr val="191C1F"/>
          </a:solidFill>
          <a:ln w="10160">
            <a:solidFill>
              <a:srgbClr val="EB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6110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Submit a valid enquiry and confirm it appears in the admin inbox.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4663440"/>
            <a:ext cx="164592" cy="164592"/>
          </a:xfrm>
          <a:prstGeom prst="rect">
            <a:avLst/>
          </a:prstGeom>
          <a:solidFill>
            <a:srgbClr val="191C1F"/>
          </a:solidFill>
          <a:ln w="10160">
            <a:solidFill>
              <a:srgbClr val="EB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645152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Submit a valid review and verify its rating and 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047488"/>
            <a:ext cx="164592" cy="164592"/>
          </a:xfrm>
          <a:prstGeom prst="rect">
            <a:avLst/>
          </a:prstGeom>
          <a:solidFill>
            <a:srgbClr val="191C1F"/>
          </a:solidFill>
          <a:ln w="10160">
            <a:solidFill>
              <a:srgbClr val="EB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Try invalid contact details and out-of-range ratings.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431536"/>
            <a:ext cx="164592" cy="164592"/>
          </a:xfrm>
          <a:prstGeom prst="rect">
            <a:avLst/>
          </a:prstGeom>
          <a:solidFill>
            <a:srgbClr val="191C1F"/>
          </a:solidFill>
          <a:ln w="10160">
            <a:solidFill>
              <a:srgbClr val="EB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413248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Sign out and verify the dashboard cannot be accessed directly.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22 / SETUP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Run the project locally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23  /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EB2535"/>
                </a:solidFill>
                <a:latin typeface="Aptos"/>
              </a:defRPr>
            </a:pPr>
            <a:r>
              <a:t>LOCAL FULL-STACK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7860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7860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Place the project in C:\xampp\htdocs\Volt_Gym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01752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01752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Start Apache and MySQL in XAMPP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45643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45643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Import php/schema.sql using phpMyAdmin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89534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8953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Open http://localhost/Volt_Gym/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33425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33425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Create an admin account with php/create_admin.php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773168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77316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0">
                <a:solidFill>
                  <a:srgbClr val="F6F5F1"/>
                </a:solidFill>
                <a:latin typeface="Aptos"/>
              </a:defRPr>
            </a:pPr>
            <a:r>
              <a:t>Sign in at /php/admin.php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828800"/>
            <a:ext cx="4434840" cy="141732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828800"/>
            <a:ext cx="41148" cy="141732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993392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STATIC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386584"/>
            <a:ext cx="4069079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GitHub Actions deploys the static frontend to GitHub Pages.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566160"/>
            <a:ext cx="4434840" cy="1417320"/>
          </a:xfrm>
          <a:prstGeom prst="roundRect">
            <a:avLst>
              <a:gd name="adj" fmla="val 8000"/>
            </a:avLst>
          </a:prstGeom>
          <a:solidFill>
            <a:srgbClr val="191C1F"/>
          </a:solidFill>
          <a:ln w="10160">
            <a:solidFill>
              <a:srgbClr val="3D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3566160"/>
            <a:ext cx="41148" cy="1417320"/>
          </a:xfrm>
          <a:prstGeom prst="rect">
            <a:avLst/>
          </a:prstGeom>
          <a:solidFill>
            <a:srgbClr val="E3A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730752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00" b="1">
                <a:solidFill>
                  <a:srgbClr val="F6F5F1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123944"/>
            <a:ext cx="4069079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GitHub Pages does not execute PHP; form persistence requires a PHP-capable server and MySQL.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34924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Use local XAMPP to demonstrate the full-stack form and admin workflows.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93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23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2700" b="1">
                <a:solidFill>
                  <a:srgbClr val="F6F5F1"/>
                </a:solidFill>
                <a:latin typeface="Aptos Display"/>
              </a:defRPr>
            </a:pPr>
            <a:r>
              <a:t>What the project delivers —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438912" cy="3200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0350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750" b="1">
                <a:solidFill>
                  <a:srgbClr val="AEB5BB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9224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  <a:defRPr sz="800" b="1">
                <a:solidFill>
                  <a:srgbClr val="AEB5BB"/>
                </a:solidFill>
                <a:latin typeface="Aptos"/>
              </a:defRPr>
            </a:pPr>
            <a:r>
              <a:t>24  /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CURRENT DELIVERABLE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3408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86000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BRANDED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560320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Responsive gym information site with interactive sections.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300837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953512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MEMBER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227832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Programs, gallery, trainer, review and membership pages.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" y="367588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621024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FULL-STACK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895344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PHP/MySQL handling for enquiries and reviews.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343399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288536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STAFF 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562855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Protected inbox with submission read-status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19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POSSIBLE NEXT ITERATIONS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340864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286000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MEMBERSHIP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560320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Real registration and online payment integration.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008376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953512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MEMBER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227832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Accounts, attendance and progress tracking.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675887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621024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CONTENT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895344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Admin tools to update plans and website content.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43399"/>
            <a:ext cx="64008" cy="283464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288536"/>
            <a:ext cx="4873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120" b="1">
                <a:solidFill>
                  <a:srgbClr val="F6F5F1"/>
                </a:solidFill>
                <a:latin typeface="Aptos"/>
              </a:defRPr>
            </a:pPr>
            <a:r>
              <a:t>PRODUCTION HOSTING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562855"/>
            <a:ext cx="4846320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19" b="0">
                <a:solidFill>
                  <a:srgbClr val="AEB5BB"/>
                </a:solidFill>
                <a:latin typeface="Aptos"/>
              </a:defRPr>
            </a:pPr>
            <a:r>
              <a:t>Deploy PHP backend and database on a secure server.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41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914400"/>
            <a:ext cx="100584" cy="3840480"/>
          </a:xfrm>
          <a:prstGeom prst="rect">
            <a:avLst/>
          </a:prstGeom>
          <a:solidFill>
            <a:srgbClr val="43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19" y="1207008"/>
            <a:ext cx="100584" cy="3520440"/>
          </a:xfrm>
          <a:prstGeom prst="rect">
            <a:avLst/>
          </a:prstGeom>
          <a:solidFill>
            <a:srgbClr val="43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95559" y="1499616"/>
            <a:ext cx="100584" cy="3200400"/>
          </a:xfrm>
          <a:prstGeom prst="rect">
            <a:avLst/>
          </a:prstGeom>
          <a:solidFill>
            <a:srgbClr val="43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1792224"/>
            <a:ext cx="100584" cy="2880360"/>
          </a:xfrm>
          <a:prstGeom prst="rect">
            <a:avLst/>
          </a:prstGeom>
          <a:solidFill>
            <a:srgbClr val="43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2084832"/>
            <a:ext cx="100584" cy="2560320"/>
          </a:xfrm>
          <a:prstGeom prst="rect">
            <a:avLst/>
          </a:prstGeom>
          <a:solidFill>
            <a:srgbClr val="43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55680" y="2377440"/>
            <a:ext cx="100584" cy="2240280"/>
          </a:xfrm>
          <a:prstGeom prst="rect">
            <a:avLst/>
          </a:prstGeom>
          <a:solidFill>
            <a:srgbClr val="43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749808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B2535"/>
                </a:solidFill>
                <a:latin typeface="Aptos"/>
              </a:defRPr>
            </a:pPr>
            <a:r>
              <a:t>VOLT GYM  /  ASTGEN SOFTWARES LLP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4700" b="1">
                <a:solidFill>
                  <a:srgbClr val="F6F5F1"/>
                </a:solidFill>
                <a:latin typeface="Aptos Display"/>
              </a:defRPr>
            </a:pPr>
            <a:r>
              <a:t>THANK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4900" b="1">
                <a:solidFill>
                  <a:srgbClr val="EB2535"/>
                </a:solidFill>
                <a:latin typeface="Aptos Display"/>
              </a:defRPr>
            </a:pPr>
            <a:r>
              <a:t>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46120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700" b="1">
                <a:solidFill>
                  <a:srgbClr val="F6F5F1"/>
                </a:solidFill>
                <a:latin typeface="Aptos"/>
              </a:defRPr>
            </a:pPr>
            <a:r>
              <a:t>Thank you for your time and consideration.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76732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200" b="0">
                <a:solidFill>
                  <a:srgbClr val="AEB5BB"/>
                </a:solidFill>
                <a:latin typeface="Aptos"/>
              </a:defRPr>
            </a:pPr>
            <a:r>
              <a:t>Full Stack Development Internship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4343400"/>
            <a:ext cx="7132320" cy="18288"/>
          </a:xfrm>
          <a:prstGeom prst="rect">
            <a:avLst/>
          </a:prstGeom>
          <a:solidFill>
            <a:srgbClr val="3D4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6177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850" b="1">
                <a:solidFill>
                  <a:srgbClr val="AEB5BB"/>
                </a:solidFill>
                <a:latin typeface="Aptos"/>
              </a:defRPr>
            </a:pPr>
            <a:r>
              <a:t>DEVELOPED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882896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50" b="1">
                <a:solidFill>
                  <a:srgbClr val="F6F5F1"/>
                </a:solidFill>
                <a:latin typeface="Aptos"/>
              </a:defRPr>
            </a:pPr>
            <a:r>
              <a:t>Aditya Shukla  ·  0614CS231004     /     Dileep Rathore  ·  0614CS231016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358384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4th Year · Computer Science 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669280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0">
                <a:solidFill>
                  <a:srgbClr val="AEB5BB"/>
                </a:solidFill>
                <a:latin typeface="Aptos"/>
              </a:defRPr>
            </a:pPr>
            <a:r>
              <a:t>Pt. Devprabhakar Shastri College of 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612648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900" b="1">
                <a:solidFill>
                  <a:srgbClr val="E3AE43"/>
                </a:solidFill>
                <a:latin typeface="Aptos"/>
              </a:defRPr>
            </a:pPr>
            <a:r>
              <a:t>GUIDE  Ajay Prajapati   ·   HOD  Santosh Patel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44068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000" b="1">
                <a:solidFill>
                  <a:srgbClr val="F6F5F1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806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defRPr sz="1800" b="1">
                <a:solidFill>
                  <a:srgbClr val="EB2535"/>
                </a:solidFill>
                <a:latin typeface="Aptos Display"/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 Gym — Full Stack Development Internship Project</dc:title>
  <dc:subject>Internship project at Astgen Softwares LLP</dc:subject>
  <dc:creator>Aditya Shukla; Dileep Rathore</dc:creator>
  <cp:keywords>Volt Gym, Astgen Softwares LLP, internship, PHP, MySQL, Computer Science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